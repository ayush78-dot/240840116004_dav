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c6294f38d471c" /><Relationship Type="http://schemas.openxmlformats.org/officeDocument/2006/relationships/extended-properties" Target="/docProps/app.xml" Id="R226c191919c24943" /><Relationship Type="http://schemas.openxmlformats.org/officeDocument/2006/relationships/officeDocument" Target="/ppt/presentation.xml" Id="R8e9b18a4279d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7a09188a24e27"/>
  </p:sldMasterIdLst>
  <p:notesMasterIdLst>
    <p:notesMasterId xmlns:r="http://schemas.openxmlformats.org/officeDocument/2006/relationships" r:id="Rfff3e4881dee4263"/>
  </p:notesMasterIdLst>
  <p:sldIdLst>
    <p:sldId xmlns:r="http://schemas.openxmlformats.org/officeDocument/2006/relationships" id="256" r:id="R6a193ded5bf94c09"/>
    <p:sldId xmlns:r="http://schemas.openxmlformats.org/officeDocument/2006/relationships" id="257" r:id="Rc68dc6f1e8df4d8e"/>
    <p:sldId xmlns:r="http://schemas.openxmlformats.org/officeDocument/2006/relationships" id="258" r:id="Re59e6bbef9ce4947"/>
    <p:sldId xmlns:r="http://schemas.openxmlformats.org/officeDocument/2006/relationships" id="259" r:id="R506d97c4c7994eda"/>
    <p:sldId xmlns:r="http://schemas.openxmlformats.org/officeDocument/2006/relationships" id="260" r:id="Rf0f4524c2b284cf2"/>
    <p:sldId xmlns:r="http://schemas.openxmlformats.org/officeDocument/2006/relationships" id="261" r:id="Rfd80a4524eda4649"/>
    <p:sldId xmlns:r="http://schemas.openxmlformats.org/officeDocument/2006/relationships" id="262" r:id="Ra52f3cfa3f1044c1"/>
    <p:sldId xmlns:r="http://schemas.openxmlformats.org/officeDocument/2006/relationships" id="263" r:id="R768ecfe02e6740e7"/>
    <p:sldId xmlns:r="http://schemas.openxmlformats.org/officeDocument/2006/relationships" id="264" r:id="R242dac7edf2a44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0b7ec916f4969" /><Relationship Type="http://schemas.openxmlformats.org/officeDocument/2006/relationships/slideMaster" Target="/ppt/slideMasters/slideMaster1.xml" Id="R2aa7a09188a24e27" /><Relationship Type="http://schemas.openxmlformats.org/officeDocument/2006/relationships/notesMaster" Target="/ppt/notesMasters/notesMaster1.xml" Id="Rfff3e4881dee4263" /><Relationship Type="http://schemas.openxmlformats.org/officeDocument/2006/relationships/presProps" Target="/ppt/presProps.xml" Id="Raca287049d454e7e" /><Relationship Type="http://schemas.openxmlformats.org/officeDocument/2006/relationships/tableStyles" Target="/ppt/tableStyles.xml" Id="R624a536dc1ee4415" /><Relationship Type="http://schemas.openxmlformats.org/officeDocument/2006/relationships/slide" Target="/ppt/slides/slide1.xml" Id="R6a193ded5bf94c09" /><Relationship Type="http://schemas.openxmlformats.org/officeDocument/2006/relationships/slide" Target="/ppt/slides/slide2.xml" Id="Rc68dc6f1e8df4d8e" /><Relationship Type="http://schemas.openxmlformats.org/officeDocument/2006/relationships/slide" Target="/ppt/slides/slide3.xml" Id="Re59e6bbef9ce4947" /><Relationship Type="http://schemas.openxmlformats.org/officeDocument/2006/relationships/slide" Target="/ppt/slides/slide4.xml" Id="R506d97c4c7994eda" /><Relationship Type="http://schemas.openxmlformats.org/officeDocument/2006/relationships/slide" Target="/ppt/slides/slide5.xml" Id="Rf0f4524c2b284cf2" /><Relationship Type="http://schemas.openxmlformats.org/officeDocument/2006/relationships/slide" Target="/ppt/slides/slide6.xml" Id="Rfd80a4524eda4649" /><Relationship Type="http://schemas.openxmlformats.org/officeDocument/2006/relationships/slide" Target="/ppt/slides/slide7.xml" Id="Ra52f3cfa3f1044c1" /><Relationship Type="http://schemas.openxmlformats.org/officeDocument/2006/relationships/slide" Target="/ppt/slides/slide8.xml" Id="R768ecfe02e6740e7" /><Relationship Type="http://schemas.openxmlformats.org/officeDocument/2006/relationships/slide" Target="/ppt/slides/slide9.xml" Id="R242dac7edf2a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41bcd8e60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84985d57a40ab" /><Relationship Type="http://schemas.openxmlformats.org/officeDocument/2006/relationships/notesMaster" Target="/ppt/notesMasters/notesMaster1.xml" Id="Rb87f103e13ba48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57b8bbb1a4cdd" /><Relationship Type="http://schemas.openxmlformats.org/officeDocument/2006/relationships/notesMaster" Target="/ppt/notesMasters/notesMaster1.xml" Id="R17ed7d34567f4c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429746e0af4a89" /><Relationship Type="http://schemas.openxmlformats.org/officeDocument/2006/relationships/notesMaster" Target="/ppt/notesMasters/notesMaster1.xml" Id="R5d7deba87992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e530f059ac4450" /><Relationship Type="http://schemas.openxmlformats.org/officeDocument/2006/relationships/notesMaster" Target="/ppt/notesMasters/notesMaster1.xml" Id="Rb7cb499ea94c4b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57c23e2b445f0" /><Relationship Type="http://schemas.openxmlformats.org/officeDocument/2006/relationships/notesMaster" Target="/ppt/notesMasters/notesMaster1.xml" Id="R587e47a9cf19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376993e94a4e29" /><Relationship Type="http://schemas.openxmlformats.org/officeDocument/2006/relationships/notesMaster" Target="/ppt/notesMasters/notesMaster1.xml" Id="Rbb4cc184f8b448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d3455a8a3f4324" /><Relationship Type="http://schemas.openxmlformats.org/officeDocument/2006/relationships/notesMaster" Target="/ppt/notesMasters/notesMaster1.xml" Id="R4d55067bb09f47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00eb08623e4143" /><Relationship Type="http://schemas.openxmlformats.org/officeDocument/2006/relationships/notesMaster" Target="/ppt/notesMasters/notesMaster1.xml" Id="R1b95a07ca30b41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85e7261b234c7e" /><Relationship Type="http://schemas.openxmlformats.org/officeDocument/2006/relationships/notesMaster" Target="/ppt/notesMasters/notesMaster1.xml" Id="R0a747c10c579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943545dec49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9033167ef49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a015d03064b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4297efa3f4d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a7b967ee147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079c56a2941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91F05-1895-4B6C-A5C9-549406499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0C7ED6-72E0-4391-984D-AE57CD5810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832B00-0640-4BAA-93F0-3C6B445B4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D9B1DE-46AF-4EB1-B3D3-C72389A1A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7B1124-EDE2-41D6-B61F-C652BE629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7BD663-4496-4153-B9D8-B18285748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A5B9E-229D-493C-98A7-F686EF2FB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47B50B-68D0-49AD-BF8F-CA756937D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B6CB2-F011-4478-86A1-B9E3CB3B6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D3F9E1-B448-4773-94C1-39EFB55DB8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14dd018b741c1" /><Relationship Type="http://schemas.openxmlformats.org/officeDocument/2006/relationships/slideLayout" Target="/ppt/slideLayouts/slideLayout1.xml" Id="R19f712a5f34b4c93" /><Relationship Type="http://schemas.openxmlformats.org/officeDocument/2006/relationships/slideLayout" Target="/ppt/slideLayouts/slideLayout2.xml" Id="Rd0d1579ecc4c4ea8" /><Relationship Type="http://schemas.openxmlformats.org/officeDocument/2006/relationships/slideLayout" Target="/ppt/slideLayouts/slideLayout3.xml" Id="R3592d6891bd14697" /><Relationship Type="http://schemas.openxmlformats.org/officeDocument/2006/relationships/slideLayout" Target="/ppt/slideLayouts/slideLayout4.xml" Id="Rf17ea68e77c1482c" /><Relationship Type="http://schemas.openxmlformats.org/officeDocument/2006/relationships/slideLayout" Target="/ppt/slideLayouts/slideLayout5.xml" Id="R4ff54b38c86547cc" /><Relationship Type="http://schemas.openxmlformats.org/officeDocument/2006/relationships/slideLayout" Target="/ppt/slideLayouts/slideLayout6.xml" Id="Rb07d86398b2b4a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712a5f34b4c93"/>
    <p:sldLayoutId xmlns:r="http://schemas.openxmlformats.org/officeDocument/2006/relationships" id="2147483650" r:id="Rd0d1579ecc4c4ea8"/>
    <p:sldLayoutId xmlns:r="http://schemas.openxmlformats.org/officeDocument/2006/relationships" id="2147483651" r:id="R3592d6891bd14697"/>
    <p:sldLayoutId xmlns:r="http://schemas.openxmlformats.org/officeDocument/2006/relationships" id="2147483652" r:id="Rf17ea68e77c1482c"/>
    <p:sldLayoutId xmlns:r="http://schemas.openxmlformats.org/officeDocument/2006/relationships" id="2147483653" r:id="R4ff54b38c86547cc"/>
    <p:sldLayoutId xmlns:r="http://schemas.openxmlformats.org/officeDocument/2006/relationships" id="2147483654" r:id="Rb07d86398b2b4a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07cc90abf43c5" /><Relationship Type="http://schemas.openxmlformats.org/officeDocument/2006/relationships/notesSlide" Target="/ppt/notesSlides/notesSlide1.xml" Id="Re1dfa85fe8cc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e1ae612f7476e" /><Relationship Type="http://schemas.openxmlformats.org/officeDocument/2006/relationships/notesSlide" Target="/ppt/notesSlides/notesSlide2.xml" Id="Rcdd4156ce6ac49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44f1800ce4543" /><Relationship Type="http://schemas.openxmlformats.org/officeDocument/2006/relationships/notesSlide" Target="/ppt/notesSlides/notesSlide3.xml" Id="Rfa0dd314b8f64e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ec2eb62fc46ba" /><Relationship Type="http://schemas.openxmlformats.org/officeDocument/2006/relationships/notesSlide" Target="/ppt/notesSlides/notesSlide4.xml" Id="R3f7e8529aa95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343e3ec984b0f" /><Relationship Type="http://schemas.openxmlformats.org/officeDocument/2006/relationships/image" Target="/ppt/media/image.png" Id="R1bf312a041074e43" /><Relationship Type="http://schemas.openxmlformats.org/officeDocument/2006/relationships/image" Target="/ppt/media/image2.png" Id="Rd345d5d7374b4937" /><Relationship Type="http://schemas.openxmlformats.org/officeDocument/2006/relationships/notesSlide" Target="/ppt/notesSlides/notesSlide5.xml" Id="R5317c1c53bea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72bcfd1e94456" /><Relationship Type="http://schemas.openxmlformats.org/officeDocument/2006/relationships/chart" Target="/ppt/slides/charts/chart1.xml" Id="Rd3a7287b582f45ff" /><Relationship Type="http://schemas.openxmlformats.org/officeDocument/2006/relationships/chart" Target="/ppt/slides/charts/chart2.xml" Id="R51af934451f9484b" /><Relationship Type="http://schemas.openxmlformats.org/officeDocument/2006/relationships/notesSlide" Target="/ppt/notesSlides/notesSlide6.xml" Id="R93d64d2be3ac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d3b946e264798" /><Relationship Type="http://schemas.openxmlformats.org/officeDocument/2006/relationships/chart" Target="/ppt/slides/charts/chart3.xml" Id="R8ad6b3a5f73f47b2" /><Relationship Type="http://schemas.openxmlformats.org/officeDocument/2006/relationships/chart" Target="/ppt/slides/charts/chart4.xml" Id="R1405926c468a486a" /><Relationship Type="http://schemas.openxmlformats.org/officeDocument/2006/relationships/notesSlide" Target="/ppt/notesSlides/notesSlide7.xml" Id="Re015550048164c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0c10d792b4845" /><Relationship Type="http://schemas.openxmlformats.org/officeDocument/2006/relationships/chart" Target="/ppt/slides/charts/chart5.xml" Id="Ra20f46c50daf46b1" /><Relationship Type="http://schemas.openxmlformats.org/officeDocument/2006/relationships/chart" Target="/ppt/slides/charts/chart6.xml" Id="R726ff6a1fdb346e1" /><Relationship Type="http://schemas.openxmlformats.org/officeDocument/2006/relationships/notesSlide" Target="/ppt/notesSlides/notesSlide8.xml" Id="R85f1250f68b7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8012fdd53467b" /><Relationship Type="http://schemas.openxmlformats.org/officeDocument/2006/relationships/notesSlide" Target="/ppt/notesSlides/notesSlide9.xml" Id="R8338114815334d4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Monthly sales — 2023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0F9D9A"/>
            </a:solidFill>
            <a:ln xmlns:a="http://schemas.openxmlformats.org/drawingml/2006/main" w="28575">
              <a:solidFill>
                <a:srgbClr val="0F9D9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9D9A"/>
              </a:solidFill>
            </c:spPr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#,##0</c:formatCode>
              <c:ptCount val="12"/>
              <c:pt idx="0">
                <c:v>35450</c:v>
              </c:pt>
              <c:pt idx="1">
                <c:v>44060</c:v>
              </c:pt>
              <c:pt idx="2">
                <c:v>28990</c:v>
              </c:pt>
              <c:pt idx="3">
                <c:v>33870</c:v>
              </c:pt>
              <c:pt idx="4">
                <c:v>53150</c:v>
              </c:pt>
              <c:pt idx="5">
                <c:v>36715</c:v>
              </c:pt>
              <c:pt idx="6">
                <c:v>35465</c:v>
              </c:pt>
              <c:pt idx="7">
                <c:v>36960</c:v>
              </c:pt>
              <c:pt idx="8">
                <c:v>23620</c:v>
              </c:pt>
              <c:pt idx="9">
                <c:v>46580</c:v>
              </c:pt>
              <c:pt idx="10">
                <c:v>34920</c:v>
              </c:pt>
              <c:pt idx="11">
                <c:v>44690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E293B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Sales by product category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3B82F6"/>
            </a:solidFill>
            <a:ln xmlns:a="http://schemas.openxmlformats.org/drawingml/2006/main" w="28575">
              <a:solidFill>
                <a:srgbClr val="3B82F6"/>
              </a:solidFill>
              <a:prstDash val="solid"/>
            </a:ln>
          </c:spPr>
          <c:invertIfNegative val="0"/>
          <c:cat>
            <c:strLit>
              <c:ptCount val="3"/>
              <c:pt idx="0">
                <c:v>Electronics</c:v>
              </c:pt>
              <c:pt idx="1">
                <c:v>Clothing</c:v>
              </c:pt>
              <c:pt idx="2">
                <c:v>Beauty</c:v>
              </c:pt>
            </c:strLit>
          </c:cat>
          <c:val>
            <c:numLit>
              <c:formatCode>#,##0</c:formatCode>
              <c:ptCount val="3"/>
              <c:pt idx="0">
                <c:v>156905</c:v>
              </c:pt>
              <c:pt idx="1">
                <c:v>155580</c:v>
              </c:pt>
              <c:pt idx="2">
                <c:v>143515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Revenue share by category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doughnutChart>
        <c:ser>
          <c:idx val="0"/>
          <c:order val="0"/>
          <c:tx>
            <c:v>Revenue</c:v>
          </c:tx>
          <c:spPr>
            <a:solidFill xmlns:a="http://schemas.openxmlformats.org/drawingml/2006/main">
              <a:srgbClr val="0F9D9A"/>
            </a:solidFill>
            <a:ln xmlns:a="http://schemas.openxmlformats.org/drawingml/2006/main" w="28575">
              <a:solidFill>
                <a:srgbClr val="0F9D9A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0F9D9A"/>
              </a:solidFill>
            </c:spPr>
          </c:dPt>
          <c:dPt>
            <c:idx val="1"/>
            <c:spPr>
              <a:solidFill xmlns:a="http://schemas.openxmlformats.org/drawingml/2006/main">
                <a:srgbClr val="3B82F6"/>
              </a:solidFill>
            </c:spPr>
          </c:dPt>
          <c:dPt>
            <c:idx val="2"/>
            <c:spPr>
              <a:solidFill xmlns:a="http://schemas.openxmlformats.org/drawingml/2006/main">
                <a:srgbClr val="F28B50"/>
              </a:solidFill>
            </c:spPr>
          </c:dPt>
          <c:cat>
            <c:strLit>
              <c:ptCount val="3"/>
              <c:pt idx="0">
                <c:v>Electronics</c:v>
              </c:pt>
              <c:pt idx="1">
                <c:v>Clothing</c:v>
              </c:pt>
              <c:pt idx="2">
                <c:v>Beauty</c:v>
              </c:pt>
            </c:strLit>
          </c:cat>
          <c:val>
            <c:numLit>
              <c:formatCode>#,##0</c:formatCode>
              <c:ptCount val="3"/>
              <c:pt idx="0">
                <c:v>156905</c:v>
              </c:pt>
              <c:pt idx="1">
                <c:v>155580</c:v>
              </c:pt>
              <c:pt idx="2">
                <c:v>143515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E293B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holeSize val="62"/>
      </c:doughnutChart>
      <c:spPr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48B"/>
              </a:solidFill>
            </a:defRPr>
          </a:pPr>
        </a:p>
      </c:txPr>
    </c:legend>
    <c:plotVisOnly val="1"/>
  </c:chart>
  <c:spPr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Revenue by category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pieChart>
        <c:ser>
          <c:idx val="0"/>
          <c:order val="0"/>
          <c:tx>
            <c:v>Revenue</c:v>
          </c:tx>
          <c:spPr>
            <a:solidFill xmlns:a="http://schemas.openxmlformats.org/drawingml/2006/main">
              <a:srgbClr val="3B82F6"/>
            </a:solidFill>
            <a:ln xmlns:a="http://schemas.openxmlformats.org/drawingml/2006/main" w="28575">
              <a:solidFill>
                <a:srgbClr val="3B82F6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0F9D9A"/>
              </a:solidFill>
            </c:spPr>
          </c:dPt>
          <c:dPt>
            <c:idx val="1"/>
            <c:spPr>
              <a:solidFill xmlns:a="http://schemas.openxmlformats.org/drawingml/2006/main">
                <a:srgbClr val="3B82F6"/>
              </a:solidFill>
            </c:spPr>
          </c:dPt>
          <c:dPt>
            <c:idx val="2"/>
            <c:spPr>
              <a:solidFill xmlns:a="http://schemas.openxmlformats.org/drawingml/2006/main">
                <a:srgbClr val="F28B50"/>
              </a:solidFill>
            </c:spPr>
          </c:dPt>
          <c:cat>
            <c:strLit>
              <c:ptCount val="3"/>
              <c:pt idx="0">
                <c:v>Electronics</c:v>
              </c:pt>
              <c:pt idx="1">
                <c:v>Clothing</c:v>
              </c:pt>
              <c:pt idx="2">
                <c:v>Beauty</c:v>
              </c:pt>
            </c:strLit>
          </c:cat>
          <c:val>
            <c:numLit>
              <c:formatCode>#,##0</c:formatCode>
              <c:ptCount val="3"/>
              <c:pt idx="0">
                <c:v>156905</c:v>
              </c:pt>
              <c:pt idx="1">
                <c:v>155580</c:v>
              </c:pt>
              <c:pt idx="2">
                <c:v>143515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E293B"/>
                  </a:solidFill>
                </a:defRPr>
              </a:pPr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0"/>
        </c:dLbls>
      </c:pieChart>
      <c:spPr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48B"/>
              </a:solidFill>
            </a:defRPr>
          </a:pPr>
        </a:p>
      </c:txPr>
    </c:legend>
    <c:plotVisOnly val="1"/>
  </c:chart>
  <c:spPr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Average transaction amount by age band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Average amount</c:v>
          </c:tx>
          <c:spPr>
            <a:solidFill xmlns:a="http://schemas.openxmlformats.org/drawingml/2006/main">
              <a:srgbClr val="0F9D9A"/>
            </a:solidFill>
            <a:ln xmlns:a="http://schemas.openxmlformats.org/drawingml/2006/main" w="28575">
              <a:solidFill>
                <a:srgbClr val="0F9D9A"/>
              </a:solidFill>
              <a:prstDash val="solid"/>
            </a:ln>
          </c:spPr>
          <c:invertIfNegative val="0"/>
          <c:cat>
            <c:strLit>
              <c:ptCount val="5"/>
              <c:pt idx="0">
                <c:v>18–24</c:v>
              </c:pt>
              <c:pt idx="1">
                <c:v>25–34</c:v>
              </c:pt>
              <c:pt idx="2">
                <c:v>35–44</c:v>
              </c:pt>
              <c:pt idx="3">
                <c:v>45–54</c:v>
              </c:pt>
              <c:pt idx="4">
                <c:v>55–64</c:v>
              </c:pt>
            </c:strLit>
          </c:cat>
          <c:val>
            <c:numLit>
              <c:formatCode>#,##0.0</c:formatCode>
              <c:ptCount val="5"/>
              <c:pt idx="0">
                <c:v>501</c:v>
              </c:pt>
              <c:pt idx="1">
                <c:v>478.3</c:v>
              </c:pt>
              <c:pt idx="2">
                <c:v>467.8</c:v>
              </c:pt>
              <c:pt idx="3">
                <c:v>432.2</c:v>
              </c:pt>
              <c:pt idx="4">
                <c:v>417.5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#,##0.0"/>
        <c:majorTickMark val="none"/>
        <c:minorTickMark val="none"/>
        <c:spPr>
          <a:ln xmlns:a="http://schemas.openxmlformats.org/drawingml/2006/main" w="0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43A"/>
                </a:solidFill>
              </a:rPr>
              <a:t>Sales by gender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43A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F28B50"/>
            </a:solidFill>
            <a:ln xmlns:a="http://schemas.openxmlformats.org/drawingml/2006/main" w="28575">
              <a:solidFill>
                <a:srgbClr val="F28B50"/>
              </a:solidFill>
              <a:prstDash val="solid"/>
            </a:ln>
          </c:spPr>
          <c:invertIfNegative val="0"/>
          <c:cat>
            <c:strLit>
              <c:ptCount val="2"/>
              <c:pt idx="0">
                <c:v>Female</c:v>
              </c:pt>
              <c:pt idx="1">
                <c:v>Male</c:v>
              </c:pt>
            </c:strLit>
          </c:cat>
          <c:val>
            <c:numLit>
              <c:formatCode>#,##0</c:formatCode>
              <c:ptCount val="2"/>
              <c:pt idx="0">
                <c:v>232840</c:v>
              </c:pt>
              <c:pt idx="1">
                <c:v>223160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solidFill>
              <a:srgbClr val="D8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BF99B-74B9-4B58-9BBA-DD3508D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etition">
            <a:extLst xmlns:a="http://schemas.openxmlformats.org/drawingml/2006/main">
              <a:ext uri="{FF2B5EF4-FFF2-40B4-BE49-F238E27FC236}">
                <a16:creationId xmlns:a16="http://schemas.microsoft.com/office/drawing/2014/main" id="{8BE7D15D-1F0C-42DB-9F57-8E452FA8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BE0D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BE0D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BE0DB"/>
                </a:solidFill>
                <a:latin typeface="Aptos"/>
                <a:ea typeface="Aptos"/>
                <a:cs typeface="Aptos"/>
              </a:rPr>
              <a:t>INSIGHTVISTA 2026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992E7148-0D51-4617-87D0-B008FF95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858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Retail Sales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Analysis &amp; Visualization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B17C0-6022-468A-B0D1-793C23C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oup-label">
            <a:extLst xmlns:a="http://schemas.openxmlformats.org/drawingml/2006/main">
              <a:ext uri="{FF2B5EF4-FFF2-40B4-BE49-F238E27FC236}">
                <a16:creationId xmlns:a16="http://schemas.microsoft.com/office/drawing/2014/main" id="{DB86C7EF-F265-464D-B4F0-7C5F6116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Group Name</a:t>
            </a:r>
          </a:p>
        </p:txBody>
      </p:sp>
      <p:sp>
        <p:nvSpPr>
          <p:cNvPr id="6" name="group-name">
            <a:extLst xmlns:a="http://schemas.openxmlformats.org/drawingml/2006/main">
              <a:ext uri="{FF2B5EF4-FFF2-40B4-BE49-F238E27FC236}">
                <a16:creationId xmlns:a16="http://schemas.microsoft.com/office/drawing/2014/main" id="{A5D0D422-56AC-4526-A0FD-1C877A7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Syntax Squad</a:t>
            </a:r>
          </a:p>
        </p:txBody>
      </p:sp>
      <p:sp>
        <p:nvSpPr>
          <p:cNvPr id="7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3EAE9B21-4374-47EE-AE9F-85C5156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Subject</a:t>
            </a:r>
          </a:p>
        </p:txBody>
      </p:sp>
      <p:sp>
        <p:nvSpPr>
          <p:cNvPr id="8" name="subject">
            <a:extLst xmlns:a="http://schemas.openxmlformats.org/drawingml/2006/main">
              <a:ext uri="{FF2B5EF4-FFF2-40B4-BE49-F238E27FC236}">
                <a16:creationId xmlns:a16="http://schemas.microsoft.com/office/drawing/2014/main" id="{2B182F23-D5EA-4A9A-B29B-3FA8F377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Analysis and Visualization</a:t>
            </a:r>
          </a:p>
        </p:txBody>
      </p:sp>
      <p:sp>
        <p:nvSpPr>
          <p:cNvPr id="9" name="code-label">
            <a:extLst xmlns:a="http://schemas.openxmlformats.org/drawingml/2006/main">
              <a:ext uri="{FF2B5EF4-FFF2-40B4-BE49-F238E27FC236}">
                <a16:creationId xmlns:a16="http://schemas.microsoft.com/office/drawing/2014/main" id="{E61547A4-75C1-45CE-96E6-F7B3A46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Subject Code</a:t>
            </a:r>
          </a:p>
        </p:txBody>
      </p:sp>
      <p:sp>
        <p:nvSpPr>
          <p:cNvPr id="10" name="subject-code">
            <a:extLst xmlns:a="http://schemas.openxmlformats.org/drawingml/2006/main">
              <a:ext uri="{FF2B5EF4-FFF2-40B4-BE49-F238E27FC236}">
                <a16:creationId xmlns:a16="http://schemas.microsoft.com/office/drawing/2014/main" id="{E4EA42F8-E41F-421C-B57D-D87F3A14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1IT508</a:t>
            </a:r>
          </a:p>
        </p:txBody>
      </p:sp>
      <p:sp>
        <p:nvSpPr>
          <p:cNvPr id="11" name="enroll-label">
            <a:extLst xmlns:a="http://schemas.openxmlformats.org/drawingml/2006/main">
              <a:ext uri="{FF2B5EF4-FFF2-40B4-BE49-F238E27FC236}">
                <a16:creationId xmlns:a16="http://schemas.microsoft.com/office/drawing/2014/main" id="{6467DC83-F45D-4C8E-B708-05013B8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Enrollment No.</a:t>
            </a:r>
          </a:p>
        </p:txBody>
      </p:sp>
      <p:sp>
        <p:nvSpPr>
          <p:cNvPr id="12" name="enrollments">
            <a:extLst xmlns:a="http://schemas.openxmlformats.org/drawingml/2006/main">
              <a:ext uri="{FF2B5EF4-FFF2-40B4-BE49-F238E27FC236}">
                <a16:creationId xmlns:a16="http://schemas.microsoft.com/office/drawing/2014/main" id="{35881C24-084B-42F4-961A-993B29FB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240840116004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240840116008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240840116056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250843116010</a:t>
            </a:r>
          </a:p>
        </p:txBody>
      </p:sp>
      <p:sp>
        <p:nvSpPr>
          <p:cNvPr id="13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46268C0D-EA4C-42EA-8839-3128CBA4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8"/>
                </a:solidFill>
                <a:latin typeface="Aptos"/>
                <a:ea typeface="Aptos"/>
                <a:cs typeface="Aptos"/>
              </a:rPr>
              <a:t>Retail transactions • 2023–2024</a:t>
            </a:r>
          </a:p>
        </p:txBody>
      </p:sp>
    </p:spTree>
    <p:extLst>
      <p:ext uri="{BB962C8B-B14F-4D97-AF65-F5344CB8AC3E}">
        <p14:creationId xmlns:p14="http://schemas.microsoft.com/office/powerpoint/2010/main" val="873482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9056E-F293-46E2-8A0F-83CB6E6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91DFAF-0CDF-4F77-A5C2-5E7761B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What we observe in the dataset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8F50E3-7089-40DE-B496-0D67EEF9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one-year retail snapshot with three closely sized product categories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8B2C6B0F-7C1B-4BB3-9394-8257923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456,000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8454337-2A2D-4B16-97C8-AC6DCCB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Total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3C3A7-2AB3-421E-8714-70642490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203E5DF-CC44-4C26-AAC0-60D5B161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76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9265E57-0515-4A13-A0ED-D1FEE665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89A0A-3090-473B-8B93-06AE5BA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62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798C0B54-F493-48CE-BEB2-76296DF3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76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2,514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500639D-DBD6-43A1-AE50-42451070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Units sold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94254-FE9A-4A8C-A369-5874DDA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62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BF91DD3D-7F0E-485B-B6DE-7F0514EB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76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14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1A8B6E3D-8B2C-4F01-8292-2DB68A6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Unique customers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D3799-047D-4F43-98D3-439D2023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271EE93F-65E0-457C-9C94-64C4EF62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Key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7CAA9-DC08-4367-954E-B4731BC6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BD4DC6AF-4DDC-4FBC-B3E1-8E2FFA3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506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Electronics leads sales at 156,905; Clothing is close at 155,580.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5481B-E4DB-451A-BCB9-A941A0A9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">
            <a:extLst xmlns:a="http://schemas.openxmlformats.org/drawingml/2006/main">
              <a:ext uri="{FF2B5EF4-FFF2-40B4-BE49-F238E27FC236}">
                <a16:creationId xmlns:a16="http://schemas.microsoft.com/office/drawing/2014/main" id="{3E1B4BB9-553E-4DE3-9385-E943765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506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Beauty contributes 143,515, so category revenue is relatively balanced.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3346-4D3F-4D46-BB37-EA46425C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D23C1149-0092-4F95-86C1-99E62FA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06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Monthly sales vary from 23,620 in September to 53,150 in May 2023.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8305C-9075-4663-A27B-C0B5CA5C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4">
            <a:extLst xmlns:a="http://schemas.openxmlformats.org/drawingml/2006/main">
              <a:ext uri="{FF2B5EF4-FFF2-40B4-BE49-F238E27FC236}">
                <a16:creationId xmlns:a16="http://schemas.microsoft.com/office/drawing/2014/main" id="{5051598D-DC39-4316-89DC-220CEF4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0506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The file covers Jan 1, 2023–Jan 1, 2024; the last date has only two transactions.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931E5-746F-44CE-8978-1C246F1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1314074-333F-4CA4-8A32-B3F122C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supplied competition dataset • currency not specified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FFFC4A-9D16-474F-B813-74A9B58E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8443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8D8917-C22F-4C18-9E77-0DF4CA1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023E1C-607A-40B5-82A6-23428F5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Steps performed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94FD28-947F-42F3-85DF-CD6AE572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compact workflow from source file to interactive Power BI pages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4CA23-B524-49E1-9AB0-992AEFB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9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0-number">
            <a:extLst xmlns:a="http://schemas.openxmlformats.org/drawingml/2006/main">
              <a:ext uri="{FF2B5EF4-FFF2-40B4-BE49-F238E27FC236}">
                <a16:creationId xmlns:a16="http://schemas.microsoft.com/office/drawing/2014/main" id="{29FB3C47-78DA-428E-B12F-42D6339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FDA5B822-B170-472D-8522-62A0926B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7" name="step-0-description">
            <a:extLst xmlns:a="http://schemas.openxmlformats.org/drawingml/2006/main">
              <a:ext uri="{FF2B5EF4-FFF2-40B4-BE49-F238E27FC236}">
                <a16:creationId xmlns:a16="http://schemas.microsoft.com/office/drawing/2014/main" id="{78EBEFDF-A999-40A4-9EEE-01D2656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Reviewed columns, row count, date range, and field roles.</a:t>
            </a:r>
          </a:p>
        </p:txBody>
      </p:sp>
      <p:sp>
        <p:nvSpPr>
          <p:cNvPr id="8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A9189C42-9913-4C81-8EB4-DD89932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860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>
            <a:def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1A201-3A9C-4801-8309-57E711C9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2009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7C2E41A-5D28-4300-8AA2-C81ED32E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7645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4D7F06C0-10C4-4174-9EDB-55BBD30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2" name="step-1-description">
            <a:extLst xmlns:a="http://schemas.openxmlformats.org/drawingml/2006/main">
              <a:ext uri="{FF2B5EF4-FFF2-40B4-BE49-F238E27FC236}">
                <a16:creationId xmlns:a16="http://schemas.microsoft.com/office/drawing/2014/main" id="{E1DB8790-D0A5-405B-A8D9-00F99FC2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0515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Checked missing values, duplicate rows/IDs, and sales arithmetic.</a:t>
            </a:r>
          </a:p>
        </p:txBody>
      </p:sp>
      <p:sp>
        <p:nvSpPr>
          <p:cNvPr id="13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FDF8B06C-E0B7-478A-B6DF-F70B3B7B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>
            <a:def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C1536-CBDB-4371-B0BC-AABE26D4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2009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1821836B-D4CB-4E9D-8984-D50240FE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1C38029F-E5F0-48DB-B414-095836B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7" name="step-2-description">
            <a:extLst xmlns:a="http://schemas.openxmlformats.org/drawingml/2006/main">
              <a:ext uri="{FF2B5EF4-FFF2-40B4-BE49-F238E27FC236}">
                <a16:creationId xmlns:a16="http://schemas.microsoft.com/office/drawing/2014/main" id="{968C3840-9E1E-49A3-8DD8-ACEBC6F3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Confirmed dates and numeric fields; retained all valid records.</a:t>
            </a:r>
          </a:p>
        </p:txBody>
      </p:sp>
      <p:sp>
        <p:nvSpPr>
          <p:cNvPr id="1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21BDEB56-5D2C-496C-B72B-6655A0C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860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>
            <a:def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700DD-590C-4754-BB7F-AC683C4E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09750"/>
            <a:ext cx="2009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0D288B2B-589B-4316-86E9-60345AC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7645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1C402B32-A76A-4220-BCEE-FF4AC6F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098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Derive</a:t>
            </a:r>
          </a:p>
        </p:txBody>
      </p:sp>
      <p:sp>
        <p:nvSpPr>
          <p:cNvPr id="22" name="step-3-description">
            <a:extLst xmlns:a="http://schemas.openxmlformats.org/drawingml/2006/main">
              <a:ext uri="{FF2B5EF4-FFF2-40B4-BE49-F238E27FC236}">
                <a16:creationId xmlns:a16="http://schemas.microsoft.com/office/drawing/2014/main" id="{269CD69B-5995-4BAE-9CB6-B2086AE9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0515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Created age bands for comparing average transaction value.</a:t>
            </a:r>
          </a:p>
        </p:txBody>
      </p:sp>
      <p:sp>
        <p:nvSpPr>
          <p:cNvPr id="23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A6E55D5E-1DD2-42AB-AB0A-EBD9F3BD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86025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>
            <a:def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6EB33-C55C-40DF-A276-D6F4C22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2009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87CF1B4-2FF9-4855-BC5E-6B5EC8CA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DCD56EC0-0155-4234-8B54-0E8AD6E6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27" name="step-4-description">
            <a:extLst xmlns:a="http://schemas.openxmlformats.org/drawingml/2006/main">
              <a:ext uri="{FF2B5EF4-FFF2-40B4-BE49-F238E27FC236}">
                <a16:creationId xmlns:a16="http://schemas.microsoft.com/office/drawing/2014/main" id="{56282044-20DC-4B75-954D-B20BC56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Built category, monthly, age, and KPI views with cross-filtering.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80900-024C-4D59-B294-5969DB8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879FDE92-7FBC-44CA-8240-DC5FD85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9D9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9D9A"/>
                </a:solidFill>
                <a:latin typeface="Aptos"/>
                <a:ea typeface="Aptos"/>
                <a:cs typeface="Aptos"/>
              </a:rPr>
              <a:t>Validation outcome</a:t>
            </a:r>
          </a:p>
        </p:txBody>
      </p:sp>
      <p:sp>
        <p:nvSpPr>
          <p:cNvPr id="30" name="outcome">
            <a:extLst xmlns:a="http://schemas.openxmlformats.org/drawingml/2006/main">
              <a:ext uri="{FF2B5EF4-FFF2-40B4-BE49-F238E27FC236}">
                <a16:creationId xmlns:a16="http://schemas.microsoft.com/office/drawing/2014/main" id="{CCC319A8-1487-4EAD-89AA-60DE7688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1,000 rows retained • no blanks or duplicate rows • Total Amount = Quantity × Price per Unit in every row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FA56DE-8532-42BD-BE63-9EF7B1E3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55E374A-F908-47A0-ACF0-4D1C135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competition retail sales dataset</a:t>
            </a:r>
          </a:p>
        </p:txBody>
      </p:sp>
      <p:sp>
        <p:nvSpPr>
          <p:cNvPr id="3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36C913-BA7B-4806-A7F4-4852B468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3314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B758D2-64FE-442A-9FD7-936E51E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366B3F-A15F-43CC-A5C9-10E17EC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Final dataset and preparation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7F6F5F-EAC3-42AA-AAA3-AD0928AD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source data was already complete; preparation focused on validation and analysis fields</a:t>
            </a:r>
          </a:p>
        </p:txBody>
      </p:sp>
      <p:sp>
        <p:nvSpPr>
          <p:cNvPr id="4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F15894F3-E9D9-4B52-B967-6BDB4E8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Source fields and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04EBC-C763-4BF6-B541-BA83C06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" name="field-0">
            <a:extLst xmlns:a="http://schemas.openxmlformats.org/drawingml/2006/main">
              <a:ext uri="{FF2B5EF4-FFF2-40B4-BE49-F238E27FC236}">
                <a16:creationId xmlns:a16="http://schemas.microsoft.com/office/drawing/2014/main" id="{A61713EB-22BC-4350-9FCD-C1CE736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Transaction ID</a:t>
            </a:r>
          </a:p>
        </p:txBody>
      </p:sp>
      <p:sp>
        <p:nvSpPr>
          <p:cNvPr id="7" name="role-0">
            <a:extLst xmlns:a="http://schemas.openxmlformats.org/drawingml/2006/main">
              <a:ext uri="{FF2B5EF4-FFF2-40B4-BE49-F238E27FC236}">
                <a16:creationId xmlns:a16="http://schemas.microsoft.com/office/drawing/2014/main" id="{89890F9A-8649-4493-B19E-0EDBFAE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Unique transaction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001E-588C-4075-B214-33632330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field-1">
            <a:extLst xmlns:a="http://schemas.openxmlformats.org/drawingml/2006/main">
              <a:ext uri="{FF2B5EF4-FFF2-40B4-BE49-F238E27FC236}">
                <a16:creationId xmlns:a16="http://schemas.microsoft.com/office/drawing/2014/main" id="{F76327A6-9D7F-4DEB-9011-ED8D0E5C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56D51E02-23B7-49E9-AAD0-6A31075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Transaction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868FC-E85E-4F10-B625-4D63F28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2" name="field-2">
            <a:extLst xmlns:a="http://schemas.openxmlformats.org/drawingml/2006/main">
              <a:ext uri="{FF2B5EF4-FFF2-40B4-BE49-F238E27FC236}">
                <a16:creationId xmlns:a16="http://schemas.microsoft.com/office/drawing/2014/main" id="{C218CF2B-4763-4370-A0C3-9B9F196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Customer ID</a:t>
            </a:r>
          </a:p>
        </p:txBody>
      </p:sp>
      <p:sp>
        <p:nvSpPr>
          <p:cNvPr id="13" name="role-2">
            <a:extLst xmlns:a="http://schemas.openxmlformats.org/drawingml/2006/main">
              <a:ext uri="{FF2B5EF4-FFF2-40B4-BE49-F238E27FC236}">
                <a16:creationId xmlns:a16="http://schemas.microsoft.com/office/drawing/2014/main" id="{0074ED88-5F6E-4BDB-864D-C899A358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Customer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9C1DC-0FFB-45AD-926B-10D78A0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field-3">
            <a:extLst xmlns:a="http://schemas.openxmlformats.org/drawingml/2006/main">
              <a:ext uri="{FF2B5EF4-FFF2-40B4-BE49-F238E27FC236}">
                <a16:creationId xmlns:a16="http://schemas.microsoft.com/office/drawing/2014/main" id="{D2DAFA13-D801-4440-B656-9909CFE9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Gender</a:t>
            </a:r>
          </a:p>
        </p:txBody>
      </p:sp>
      <p:sp>
        <p:nvSpPr>
          <p:cNvPr id="16" name="role-3">
            <a:extLst xmlns:a="http://schemas.openxmlformats.org/drawingml/2006/main">
              <a:ext uri="{FF2B5EF4-FFF2-40B4-BE49-F238E27FC236}">
                <a16:creationId xmlns:a16="http://schemas.microsoft.com/office/drawing/2014/main" id="{710CA61E-1EC7-4204-B7DC-2A677BD6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DE7C2-0A29-42D6-86CE-B6152249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field-4">
            <a:extLst xmlns:a="http://schemas.openxmlformats.org/drawingml/2006/main">
              <a:ext uri="{FF2B5EF4-FFF2-40B4-BE49-F238E27FC236}">
                <a16:creationId xmlns:a16="http://schemas.microsoft.com/office/drawing/2014/main" id="{66B888AF-7462-40D8-AC89-EFFDF43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19" name="role-4">
            <a:extLst xmlns:a="http://schemas.openxmlformats.org/drawingml/2006/main">
              <a:ext uri="{FF2B5EF4-FFF2-40B4-BE49-F238E27FC236}">
                <a16:creationId xmlns:a16="http://schemas.microsoft.com/office/drawing/2014/main" id="{78CE40EF-DD99-41D5-8A77-AFE7965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1FDB1-87F7-446C-8437-08B8344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080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field-5">
            <a:extLst xmlns:a="http://schemas.openxmlformats.org/drawingml/2006/main">
              <a:ext uri="{FF2B5EF4-FFF2-40B4-BE49-F238E27FC236}">
                <a16:creationId xmlns:a16="http://schemas.microsoft.com/office/drawing/2014/main" id="{BE8034ED-87B0-4E08-9D6A-336CADB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Product Category</a:t>
            </a:r>
          </a:p>
        </p:txBody>
      </p:sp>
      <p:sp>
        <p:nvSpPr>
          <p:cNvPr id="22" name="role-5">
            <a:extLst xmlns:a="http://schemas.openxmlformats.org/drawingml/2006/main">
              <a:ext uri="{FF2B5EF4-FFF2-40B4-BE49-F238E27FC236}">
                <a16:creationId xmlns:a16="http://schemas.microsoft.com/office/drawing/2014/main" id="{741E4BED-8ED7-44A1-98BE-782BF4C6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ADB9E-12A5-4611-9684-CF8BC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field-6">
            <a:extLst xmlns:a="http://schemas.openxmlformats.org/drawingml/2006/main">
              <a:ext uri="{FF2B5EF4-FFF2-40B4-BE49-F238E27FC236}">
                <a16:creationId xmlns:a16="http://schemas.microsoft.com/office/drawing/2014/main" id="{66C34FFC-206A-4FB0-82F3-9284015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Quantity</a:t>
            </a:r>
          </a:p>
        </p:txBody>
      </p:sp>
      <p:sp>
        <p:nvSpPr>
          <p:cNvPr id="25" name="role-6">
            <a:extLst xmlns:a="http://schemas.openxmlformats.org/drawingml/2006/main">
              <a:ext uri="{FF2B5EF4-FFF2-40B4-BE49-F238E27FC236}">
                <a16:creationId xmlns:a16="http://schemas.microsoft.com/office/drawing/2014/main" id="{0F2A57E7-5A3E-42BF-9E9A-9D578CA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3C761-B930-4955-B9F1-9F62749B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field-7">
            <a:extLst xmlns:a="http://schemas.openxmlformats.org/drawingml/2006/main">
              <a:ext uri="{FF2B5EF4-FFF2-40B4-BE49-F238E27FC236}">
                <a16:creationId xmlns:a16="http://schemas.microsoft.com/office/drawing/2014/main" id="{7642EB41-F749-4569-94C1-1918BA84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48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Price per Unit</a:t>
            </a:r>
          </a:p>
        </p:txBody>
      </p:sp>
      <p:sp>
        <p:nvSpPr>
          <p:cNvPr id="28" name="role-7">
            <a:extLst xmlns:a="http://schemas.openxmlformats.org/drawingml/2006/main">
              <a:ext uri="{FF2B5EF4-FFF2-40B4-BE49-F238E27FC236}">
                <a16:creationId xmlns:a16="http://schemas.microsoft.com/office/drawing/2014/main" id="{93AF0132-B8B6-4862-B50F-DEA76F02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B93A4-CC6A-44C7-9593-5AC5E70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23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field-8">
            <a:extLst xmlns:a="http://schemas.openxmlformats.org/drawingml/2006/main">
              <a:ext uri="{FF2B5EF4-FFF2-40B4-BE49-F238E27FC236}">
                <a16:creationId xmlns:a16="http://schemas.microsoft.com/office/drawing/2014/main" id="{133B7BF9-E782-4263-A1AD-35DC5301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Total Amount</a:t>
            </a:r>
          </a:p>
        </p:txBody>
      </p:sp>
      <p:sp>
        <p:nvSpPr>
          <p:cNvPr id="31" name="role-8">
            <a:extLst xmlns:a="http://schemas.openxmlformats.org/drawingml/2006/main">
              <a:ext uri="{FF2B5EF4-FFF2-40B4-BE49-F238E27FC236}">
                <a16:creationId xmlns:a16="http://schemas.microsoft.com/office/drawing/2014/main" id="{613E9751-A915-42BC-8744-0D428AA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Numeric measure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AAD36-ECA1-48C9-A50D-CE059567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A5641DC7-DCB7-4880-ABEE-DEE4F2AD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Preparation and quality checks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5CD9F-CBEC-4304-8F91-AB570FD4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ullet-1">
            <a:extLst xmlns:a="http://schemas.openxmlformats.org/drawingml/2006/main">
              <a:ext uri="{FF2B5EF4-FFF2-40B4-BE49-F238E27FC236}">
                <a16:creationId xmlns:a16="http://schemas.microsoft.com/office/drawing/2014/main" id="{2370B138-323B-42D1-9FE7-0661914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5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All 1,000 rows have values; no duplicate rows or transaction IDs were found.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472A03-64EA-4BC0-99D4-5794B3C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ullet-2">
            <a:extLst xmlns:a="http://schemas.openxmlformats.org/drawingml/2006/main">
              <a:ext uri="{FF2B5EF4-FFF2-40B4-BE49-F238E27FC236}">
                <a16:creationId xmlns:a16="http://schemas.microsoft.com/office/drawing/2014/main" id="{598154BB-3020-4134-85E2-AD98D44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55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Recalculated Quantity × Price per Unit and confirmed it matches Total Amount for all rows.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0A6CF-E2E9-48FB-BE68-AE18B83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ullet-3">
            <a:extLst xmlns:a="http://schemas.openxmlformats.org/drawingml/2006/main">
              <a:ext uri="{FF2B5EF4-FFF2-40B4-BE49-F238E27FC236}">
                <a16:creationId xmlns:a16="http://schemas.microsoft.com/office/drawing/2014/main" id="{94D7DF70-7B7D-4ED0-AEEA-1750F50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55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Added age groups: 18–24, 25–34, 35–44, 45–54, and 55–64; no source rows were removed.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6DE764-22BB-4EEC-AA84-66D7B00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A3AD6A9-3B38-45E4-9A44-952D64D5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supplied dataset • original rows retained</a:t>
            </a:r>
          </a:p>
        </p:txBody>
      </p:sp>
      <p:sp>
        <p:nvSpPr>
          <p:cNvPr id="4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8D9DB3-C068-44BC-B6F7-9E43FC9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243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6EE50-3A81-4258-B2A0-23894BA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CC8B2-6DAF-4FD0-BEB4-7E79C17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Dashboard views and first observations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491E83-473F-44CC-AA33-1DFE2F5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Power BI pages 2 and 3 show category mix, category sales, and headline KPIs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0EA27-B0DD-4984-B897-52C4B3FC1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312a041074e43"/>
          <a:stretch xmlns:a="http://schemas.openxmlformats.org/drawingml/2006/main"/>
        </p:blipFill>
        <p:spPr>
          <a:xfrm xmlns:a="http://schemas.openxmlformats.org/drawingml/2006/main">
            <a:off x="612107" y="1428750"/>
            <a:ext cx="5252787" cy="2952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CC63-227F-48C9-87A4-7B21150A5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5d5d7374b4937"/>
          <a:stretch xmlns:a="http://schemas.openxmlformats.org/drawingml/2006/main"/>
        </p:blipFill>
        <p:spPr>
          <a:xfrm xmlns:a="http://schemas.openxmlformats.org/drawingml/2006/main">
            <a:off x="6327107" y="1428750"/>
            <a:ext cx="5252787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page2-caption">
            <a:extLst xmlns:a="http://schemas.openxmlformats.org/drawingml/2006/main">
              <a:ext uri="{FF2B5EF4-FFF2-40B4-BE49-F238E27FC236}">
                <a16:creationId xmlns:a16="http://schemas.microsoft.com/office/drawing/2014/main" id="{8FDD1AAD-7BDC-49A1-B6EA-3A67A7E2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Category composition</a:t>
            </a:r>
          </a:p>
        </p:txBody>
      </p:sp>
      <p:sp>
        <p:nvSpPr>
          <p:cNvPr id="7" name="page3-caption">
            <a:extLst xmlns:a="http://schemas.openxmlformats.org/drawingml/2006/main">
              <a:ext uri="{FF2B5EF4-FFF2-40B4-BE49-F238E27FC236}">
                <a16:creationId xmlns:a16="http://schemas.microsoft.com/office/drawing/2014/main" id="{C3467F1F-4747-48D6-B277-EB6E0E11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Sales by category and four KPIs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C8B2A-57A6-4445-987E-B192EF8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A539E-5F49-4A54-808D-21D12D5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9103764D-A4C4-4835-93F4-BED30EB5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1045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Revenue is concentrated fairly evenly across Electronics, Clothing, and Beauty.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9F85A-36FE-465B-82E7-06C6396B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335278F6-1DEA-4D19-B755-A3FB890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1045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The category chart filters the KPI cards; the report’s chart selections cross-filter related visuals.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0920-AC51-443F-B391-4642637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143E6E5-A2B4-4CC1-938A-FE3DFD1B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screenshots from the Power BI report • values rounded for display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05AB9F-4E6A-4C5E-B0B7-CDCBFD79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8691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3D043-06B3-42DE-8B65-574CCAFD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FD1CC3-5F72-476C-8DE1-5146746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Sales trends and category performance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7222DC-4360-45E7-A8D9-53AB699E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Monthly sales are uneven; category totals remain close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D805145-AEF2-47DB-89DE-52C5C6D992CD}"/>
              </a:ext>
            </a:extLst>
          </p:cNvPr>
          <p:cNvGraphicFramePr/>
          <p:nvPr/>
        </p:nvGraphicFramePr>
        <p:xfrm>
          <a:off xmlns:a="http://schemas.openxmlformats.org/drawingml/2006/main" x="514350" y="1409700"/>
          <a:ext xmlns:a="http://schemas.openxmlformats.org/drawingml/2006/main" cx="58102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a7287b582f45f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EF3D857-F1F9-4EAC-8DEE-05CFF0C5679D}"/>
              </a:ext>
            </a:extLst>
          </p:cNvPr>
          <p:cNvGraphicFramePr/>
          <p:nvPr/>
        </p:nvGraphicFramePr>
        <p:xfrm>
          <a:off xmlns:a="http://schemas.openxmlformats.org/drawingml/2006/main" x="6667500" y="1409700"/>
          <a:ext xmlns:a="http://schemas.openxmlformats.org/drawingml/2006/main" cx="4953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f934451f9484b"/>
          </a:graphicData>
        </a:graphic>
      </p:graphicFrame>
      <p:sp>
        <p:nvSpPr>
          <p:cNvPr id="6" name="trend-finding">
            <a:extLst xmlns:a="http://schemas.openxmlformats.org/drawingml/2006/main">
              <a:ext uri="{FF2B5EF4-FFF2-40B4-BE49-F238E27FC236}">
                <a16:creationId xmlns:a16="http://schemas.microsoft.com/office/drawing/2014/main" id="{EA4D3A7A-ED9B-49B4-84EE-A680924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May was the strongest month; September was the lowest in 2023.</a:t>
            </a:r>
          </a:p>
        </p:txBody>
      </p:sp>
      <p:sp>
        <p:nvSpPr>
          <p:cNvPr id="7" name="category-finding">
            <a:extLst xmlns:a="http://schemas.openxmlformats.org/drawingml/2006/main">
              <a:ext uri="{FF2B5EF4-FFF2-40B4-BE49-F238E27FC236}">
                <a16:creationId xmlns:a16="http://schemas.microsoft.com/office/drawing/2014/main" id="{2BC0C8F6-879C-4DB2-A048-949CD610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91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Electronics generated the most revenue (34.4%); Clothing had the most transactions (351).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ED786-AB93-42FA-A5E4-269534E7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4EAA606-1777-4EA5-B7E2-8EE1C67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Jan 2024 excluded from the monthly trend: only two transactions are present for that date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6A7783-7885-4183-B6E5-8EF1D21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78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4D80D-E637-4401-8B4C-058BFC0F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F824E8-AAB7-4E30-80E1-AB8CB25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Category mix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08D143-F89C-4B0B-AF68-823F8627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Two views of the same revenue split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51A599A-AA41-41DA-AE99-34A7D1B76699}"/>
              </a:ext>
            </a:extLst>
          </p:cNvPr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5048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d6b3a5f73f47b2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1B781CB-C86F-4C2A-A5FA-903B7FC1D029}"/>
              </a:ext>
            </a:extLst>
          </p:cNvPr>
          <p:cNvGraphicFramePr/>
          <p:nvPr/>
        </p:nvGraphicFramePr>
        <p:xfrm>
          <a:off xmlns:a="http://schemas.openxmlformats.org/drawingml/2006/main" x="6419850" y="1428750"/>
          <a:ext xmlns:a="http://schemas.openxmlformats.org/drawingml/2006/main" cx="5048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05926c468a486a"/>
          </a:graphicData>
        </a:graphic>
      </p:graphicFrame>
      <p:sp>
        <p:nvSpPr>
          <p:cNvPr id="6" name="category-shares">
            <a:extLst xmlns:a="http://schemas.openxmlformats.org/drawingml/2006/main">
              <a:ext uri="{FF2B5EF4-FFF2-40B4-BE49-F238E27FC236}">
                <a16:creationId xmlns:a16="http://schemas.microsoft.com/office/drawing/2014/main" id="{4BCA3D77-AFFD-4D00-9AE3-D4ADF735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Electronics 34.4%  •  Clothing 34.1%  •  Beauty 31.5%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E725F-2FBA-4C31-B18C-DE31DF1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8CFF8C9-A2F8-4F8B-B37B-09FF92C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Share of total sales 456,000 • currency not specified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0E7E81-1EB8-4381-9539-077955D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3493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DE1BC-67C2-42E7-B474-5BBBDE7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C6A91-8EA2-4974-B325-45357DD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Customer profile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376606-CD10-4C91-90BA-9C5A259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Average transaction value trends lower across older age bands; sales split by gender is close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3D5AF45-B77D-41B8-9C75-232B3E058943}"/>
              </a:ext>
            </a:extLst>
          </p:cNvPr>
          <p:cNvGraphicFramePr/>
          <p:nvPr/>
        </p:nvGraphicFramePr>
        <p:xfrm>
          <a:off xmlns:a="http://schemas.openxmlformats.org/drawingml/2006/main" x="514350" y="1466850"/>
          <a:ext xmlns:a="http://schemas.openxmlformats.org/drawingml/2006/main" cx="5810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0f46c50daf46b1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66CA39A-94EB-4067-B9B5-ECAE5E6CAA4C}"/>
              </a:ext>
            </a:extLst>
          </p:cNvPr>
          <p:cNvGraphicFramePr/>
          <p:nvPr/>
        </p:nvGraphicFramePr>
        <p:xfrm>
          <a:off xmlns:a="http://schemas.openxmlformats.org/drawingml/2006/main" x="6667500" y="1466850"/>
          <a:ext xmlns:a="http://schemas.openxmlformats.org/drawingml/2006/main" cx="4953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ff6a1fdb346e1"/>
          </a:graphicData>
        </a:graphic>
      </p:graphicFrame>
      <p:sp>
        <p:nvSpPr>
          <p:cNvPr id="6" name="age-observation">
            <a:extLst xmlns:a="http://schemas.openxmlformats.org/drawingml/2006/main">
              <a:ext uri="{FF2B5EF4-FFF2-40B4-BE49-F238E27FC236}">
                <a16:creationId xmlns:a16="http://schemas.microsoft.com/office/drawing/2014/main" id="{9D6846BD-F338-4048-BF6A-370A6E4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50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18–24 has the highest observed average (501); 55–64 has the lowest (417.5).</a:t>
            </a:r>
          </a:p>
        </p:txBody>
      </p:sp>
      <p:sp>
        <p:nvSpPr>
          <p:cNvPr id="7" name="gender-observation">
            <a:extLst xmlns:a="http://schemas.openxmlformats.org/drawingml/2006/main">
              <a:ext uri="{FF2B5EF4-FFF2-40B4-BE49-F238E27FC236}">
                <a16:creationId xmlns:a16="http://schemas.microsoft.com/office/drawing/2014/main" id="{FABE66DF-FFAB-4B57-BE45-CA6930E2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626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66"/>
          </a:bodyPr>
          <a:lstStyle xmlns:a="http://schemas.openxmlformats.org/drawingml/2006/main">
            <a:def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Female sales are 232,840 (51.1%); Male sales are 223,160 (48.9%).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5C53C-CAF6-4E70-900F-454BC3D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B27648C-A4F8-4E4F-9A9B-EC8FE197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differences only; age and gender patterns do not establish cause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0FD975-C793-4D6C-90D5-03F2C96A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2825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892D3-E422-4B01-84A6-741D16F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ommendation-title">
            <a:extLst xmlns:a="http://schemas.openxmlformats.org/drawingml/2006/main">
              <a:ext uri="{FF2B5EF4-FFF2-40B4-BE49-F238E27FC236}">
                <a16:creationId xmlns:a16="http://schemas.microsoft.com/office/drawing/2014/main" id="{3DCC8F60-D059-47E9-8E0F-64AD04B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recommendations</a:t>
            </a:r>
          </a:p>
        </p:txBody>
      </p:sp>
      <p:sp>
        <p:nvSpPr>
          <p:cNvPr id="3" name="recommendation-subtitle">
            <a:extLst xmlns:a="http://schemas.openxmlformats.org/drawingml/2006/main">
              <a:ext uri="{FF2B5EF4-FFF2-40B4-BE49-F238E27FC236}">
                <a16:creationId xmlns:a16="http://schemas.microsoft.com/office/drawing/2014/main" id="{DE4C7A4B-D368-40BD-94AA-722813D9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8C5D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8C5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8C5D2"/>
                </a:solidFill>
                <a:latin typeface="Aptos"/>
                <a:ea typeface="Aptos"/>
                <a:cs typeface="Aptos"/>
              </a:rPr>
              <a:t>Use the patterns as hypotheses to test, then measure profit and repeat behavior.</a:t>
            </a:r>
          </a:p>
        </p:txBody>
      </p:sp>
      <p:sp>
        <p:nvSpPr>
          <p:cNvPr id="4" name="recommendation-number-0">
            <a:extLst xmlns:a="http://schemas.openxmlformats.org/drawingml/2006/main">
              <a:ext uri="{FF2B5EF4-FFF2-40B4-BE49-F238E27FC236}">
                <a16:creationId xmlns:a16="http://schemas.microsoft.com/office/drawing/2014/main" id="{63D18D6B-9DDB-497E-B701-9E42EA5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9D0C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recommendation-heading-0">
            <a:extLst xmlns:a="http://schemas.openxmlformats.org/drawingml/2006/main">
              <a:ext uri="{FF2B5EF4-FFF2-40B4-BE49-F238E27FC236}">
                <a16:creationId xmlns:a16="http://schemas.microsoft.com/office/drawing/2014/main" id="{8408B411-7149-4B2A-9F5A-089AFE4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around monthly variation</a:t>
            </a:r>
          </a:p>
        </p:txBody>
      </p:sp>
      <p:sp>
        <p:nvSpPr>
          <p:cNvPr id="6" name="recommendation-copy-0">
            <a:extLst xmlns:a="http://schemas.openxmlformats.org/drawingml/2006/main">
              <a:ext uri="{FF2B5EF4-FFF2-40B4-BE49-F238E27FC236}">
                <a16:creationId xmlns:a16="http://schemas.microsoft.com/office/drawing/2014/main" id="{D19279FC-CF2F-45C6-8C01-8C45DD9A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0E9"/>
                </a:solidFill>
                <a:latin typeface="Aptos"/>
                <a:ea typeface="Aptos"/>
                <a:cs typeface="Aptos"/>
              </a:rPr>
              <a:t>Review what drove the May high and September low; test calendar offers before changing budgets.</a:t>
            </a:r>
          </a:p>
        </p:txBody>
      </p:sp>
      <p:sp>
        <p:nvSpPr>
          <p:cNvPr id="7" name="recommendation-number-1">
            <a:extLst xmlns:a="http://schemas.openxmlformats.org/drawingml/2006/main">
              <a:ext uri="{FF2B5EF4-FFF2-40B4-BE49-F238E27FC236}">
                <a16:creationId xmlns:a16="http://schemas.microsoft.com/office/drawing/2014/main" id="{711A73DF-5459-44BE-AD4A-88090F2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9D0C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recommendation-heading-1">
            <a:extLst xmlns:a="http://schemas.openxmlformats.org/drawingml/2006/main">
              <a:ext uri="{FF2B5EF4-FFF2-40B4-BE49-F238E27FC236}">
                <a16:creationId xmlns:a16="http://schemas.microsoft.com/office/drawing/2014/main" id="{30CD3849-E59C-44E7-84DF-E37F9FA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 category availability</a:t>
            </a:r>
          </a:p>
        </p:txBody>
      </p:sp>
      <p:sp>
        <p:nvSpPr>
          <p:cNvPr id="9" name="recommendation-copy-1">
            <a:extLst xmlns:a="http://schemas.openxmlformats.org/drawingml/2006/main">
              <a:ext uri="{FF2B5EF4-FFF2-40B4-BE49-F238E27FC236}">
                <a16:creationId xmlns:a16="http://schemas.microsoft.com/office/drawing/2014/main" id="{121D86FF-B467-4CF7-AB00-CDB2A00D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0E9"/>
                </a:solidFill>
                <a:latin typeface="Aptos"/>
                <a:ea typeface="Aptos"/>
                <a:cs typeface="Aptos"/>
              </a:rPr>
              <a:t>Electronics led revenue while Clothing led transaction count. Track stockouts, margin, and conversion before shifting inventory.</a:t>
            </a:r>
          </a:p>
        </p:txBody>
      </p:sp>
      <p:sp>
        <p:nvSpPr>
          <p:cNvPr id="10" name="recommendation-number-2">
            <a:extLst xmlns:a="http://schemas.openxmlformats.org/drawingml/2006/main">
              <a:ext uri="{FF2B5EF4-FFF2-40B4-BE49-F238E27FC236}">
                <a16:creationId xmlns:a16="http://schemas.microsoft.com/office/drawing/2014/main" id="{8AFB982B-90A8-4619-9064-30B1E8CC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9D0C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recommendation-heading-2">
            <a:extLst xmlns:a="http://schemas.openxmlformats.org/drawingml/2006/main">
              <a:ext uri="{FF2B5EF4-FFF2-40B4-BE49-F238E27FC236}">
                <a16:creationId xmlns:a16="http://schemas.microsoft.com/office/drawing/2014/main" id="{AB997DA5-2528-48F9-ADB0-18C2BDFF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customer-specific offers</a:t>
            </a:r>
          </a:p>
        </p:txBody>
      </p:sp>
      <p:sp>
        <p:nvSpPr>
          <p:cNvPr id="12" name="recommendation-copy-2">
            <a:extLst xmlns:a="http://schemas.openxmlformats.org/drawingml/2006/main">
              <a:ext uri="{FF2B5EF4-FFF2-40B4-BE49-F238E27FC236}">
                <a16:creationId xmlns:a16="http://schemas.microsoft.com/office/drawing/2014/main" id="{925017FA-594A-4FF6-AE1F-A669D051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0E9"/>
                </a:solidFill>
                <a:latin typeface="Aptos"/>
                <a:ea typeface="Aptos"/>
                <a:cs typeface="Aptos"/>
              </a:rPr>
              <a:t>Compare age-band response with controlled campaigns; do not treat the observed age pattern as a cause.</a:t>
            </a:r>
          </a:p>
        </p:txBody>
      </p:sp>
      <p:sp>
        <p:nvSpPr>
          <p:cNvPr id="13" name="recommendation-number-3">
            <a:extLst xmlns:a="http://schemas.openxmlformats.org/drawingml/2006/main">
              <a:ext uri="{FF2B5EF4-FFF2-40B4-BE49-F238E27FC236}">
                <a16:creationId xmlns:a16="http://schemas.microsoft.com/office/drawing/2014/main" id="{1598D140-BDB0-4A7D-81D8-AD87AAA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9D0C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9D0C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recommendation-heading-3">
            <a:extLst xmlns:a="http://schemas.openxmlformats.org/drawingml/2006/main">
              <a:ext uri="{FF2B5EF4-FFF2-40B4-BE49-F238E27FC236}">
                <a16:creationId xmlns:a16="http://schemas.microsoft.com/office/drawing/2014/main" id="{505E185F-2E81-4955-9D28-3DBEF9BC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Improve the next data capture</a:t>
            </a:r>
          </a:p>
        </p:txBody>
      </p:sp>
      <p:sp>
        <p:nvSpPr>
          <p:cNvPr id="15" name="recommendation-copy-3">
            <a:extLst xmlns:a="http://schemas.openxmlformats.org/drawingml/2006/main">
              <a:ext uri="{FF2B5EF4-FFF2-40B4-BE49-F238E27FC236}">
                <a16:creationId xmlns:a16="http://schemas.microsoft.com/office/drawing/2014/main" id="{A39988B5-3FCA-4EF6-B741-316F7D49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0E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0E9"/>
                </a:solidFill>
                <a:latin typeface="Aptos"/>
                <a:ea typeface="Aptos"/>
                <a:cs typeface="Aptos"/>
              </a:rPr>
              <a:t>Add unit cost, promotion, product/SKU, channel, inventory, and repeat-customer fields to measure profit and retention.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D92C7-02D4-4E9C-9476-030E9443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5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imitations">
            <a:extLst xmlns:a="http://schemas.openxmlformats.org/drawingml/2006/main">
              <a:ext uri="{FF2B5EF4-FFF2-40B4-BE49-F238E27FC236}">
                <a16:creationId xmlns:a16="http://schemas.microsoft.com/office/drawing/2014/main" id="{2CF9F990-6C16-4F93-8FCD-B564C82F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8"/>
                </a:solidFill>
                <a:latin typeface="Aptos"/>
                <a:ea typeface="Aptos"/>
                <a:cs typeface="Aptos"/>
              </a:rPr>
              <a:t>Analysis scope: sales and transaction value only • cost, profit, promotion, inventory, and repeat behavior are not in the source file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9FC2CE-44AE-47CD-BB0D-7F33DA1F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2876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2026-10-12T10:13:42.1660000Z</dcterms:created>
  <dcterms:modified xsi:type="dcterms:W3CDTF">2026-10-12T10:13:42.1660000Z</dcterms:modified>
</coreProperties>
</file>